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3" r:id="rId11"/>
    <p:sldId id="270" r:id="rId12"/>
    <p:sldId id="274" r:id="rId13"/>
    <p:sldId id="271" r:id="rId14"/>
    <p:sldId id="275" r:id="rId15"/>
    <p:sldId id="272" r:id="rId16"/>
    <p:sldId id="265" r:id="rId17"/>
    <p:sldId id="266" r:id="rId18"/>
    <p:sldId id="267" r:id="rId19"/>
    <p:sldId id="269" r:id="rId2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853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8BFEDC-D780-4A14-AE01-76AE1AF092C2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05A570-FA9B-477B-BE1D-A60D82ABD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37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172E3-0715-490F-81D5-8768E9026F72}" type="datetime1">
              <a:rPr lang="pt-BR" smtClean="0"/>
              <a:t>05/05/2026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EtecVAv</a:t>
            </a: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4C535-F96F-46C9-A026-C6D5DFA8CB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96410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bg>
      <p:bgPr>
        <a:gradFill rotWithShape="1">
          <a:gsLst>
            <a:gs pos="0">
              <a:schemeClr val="bg1">
                <a:tint val="93000"/>
                <a:satMod val="150000"/>
                <a:shade val="98000"/>
                <a:lumMod val="102000"/>
              </a:schemeClr>
            </a:gs>
            <a:gs pos="50000">
              <a:schemeClr val="accent2">
                <a:lumMod val="75000"/>
              </a:schemeClr>
            </a:gs>
            <a:gs pos="100000">
              <a:schemeClr val="bg1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B1236-2B42-4BB2-B978-4555625E7F6C}" type="datetime1">
              <a:rPr lang="pt-BR" smtClean="0"/>
              <a:t>05/05/2026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EtecVAv</a:t>
            </a: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4C535-F96F-46C9-A026-C6D5DFA8CB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79964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Pr>
        <a:gradFill rotWithShape="1">
          <a:gsLst>
            <a:gs pos="0">
              <a:schemeClr val="bg1">
                <a:tint val="93000"/>
                <a:satMod val="150000"/>
                <a:shade val="98000"/>
                <a:lumMod val="102000"/>
              </a:schemeClr>
            </a:gs>
            <a:gs pos="50000">
              <a:schemeClr val="accent2">
                <a:lumMod val="75000"/>
              </a:schemeClr>
            </a:gs>
            <a:gs pos="100000">
              <a:schemeClr val="bg1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EBCC6-1EDF-4187-8E89-8675B2A6BECB}" type="datetime1">
              <a:rPr lang="pt-BR" smtClean="0"/>
              <a:t>05/05/2026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EtecVAv</a:t>
            </a: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4C535-F96F-46C9-A026-C6D5DFA8CB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40749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bg>
      <p:bgPr>
        <a:gradFill rotWithShape="1">
          <a:gsLst>
            <a:gs pos="0">
              <a:schemeClr val="bg1">
                <a:tint val="93000"/>
                <a:satMod val="150000"/>
                <a:shade val="98000"/>
                <a:lumMod val="102000"/>
              </a:schemeClr>
            </a:gs>
            <a:gs pos="50000">
              <a:schemeClr val="accent2">
                <a:lumMod val="75000"/>
              </a:schemeClr>
            </a:gs>
            <a:gs pos="100000">
              <a:schemeClr val="bg1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3D0FC-10D9-4530-8679-E62BFB1AE456}" type="datetime1">
              <a:rPr lang="pt-BR" smtClean="0"/>
              <a:t>05/05/2026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EtecVAv</a:t>
            </a:r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4C535-F96F-46C9-A026-C6D5DFA8CB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95589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bg>
      <p:bgPr>
        <a:gradFill rotWithShape="1">
          <a:gsLst>
            <a:gs pos="0">
              <a:schemeClr val="bg1">
                <a:tint val="93000"/>
                <a:satMod val="150000"/>
                <a:shade val="98000"/>
                <a:lumMod val="102000"/>
              </a:schemeClr>
            </a:gs>
            <a:gs pos="50000">
              <a:schemeClr val="accent2">
                <a:lumMod val="75000"/>
              </a:schemeClr>
            </a:gs>
            <a:gs pos="100000">
              <a:schemeClr val="bg1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B10B2-BA59-4366-AECD-3E889FFDC54B}" type="datetime1">
              <a:rPr lang="pt-BR" smtClean="0"/>
              <a:t>05/05/2026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EtecVAv</a:t>
            </a:r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4C535-F96F-46C9-A026-C6D5DFA8CB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58473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bg>
      <p:bgPr>
        <a:gradFill rotWithShape="1">
          <a:gsLst>
            <a:gs pos="0">
              <a:schemeClr val="bg1">
                <a:tint val="93000"/>
                <a:satMod val="150000"/>
                <a:shade val="98000"/>
                <a:lumMod val="102000"/>
              </a:schemeClr>
            </a:gs>
            <a:gs pos="50000">
              <a:schemeClr val="accent2">
                <a:lumMod val="75000"/>
              </a:schemeClr>
            </a:gs>
            <a:gs pos="100000">
              <a:schemeClr val="bg1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20DF6-2DE4-41A4-BDBE-0984E69B194E}" type="datetime1">
              <a:rPr lang="pt-BR" smtClean="0"/>
              <a:t>05/05/2026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EtecVAv</a:t>
            </a:r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4C535-F96F-46C9-A026-C6D5DFA8CB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56708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bg>
      <p:bgPr>
        <a:gradFill rotWithShape="1">
          <a:gsLst>
            <a:gs pos="0">
              <a:schemeClr val="bg1">
                <a:tint val="93000"/>
                <a:satMod val="150000"/>
                <a:shade val="98000"/>
                <a:lumMod val="102000"/>
              </a:schemeClr>
            </a:gs>
            <a:gs pos="50000">
              <a:schemeClr val="accent2">
                <a:lumMod val="75000"/>
              </a:schemeClr>
            </a:gs>
            <a:gs pos="100000">
              <a:schemeClr val="bg1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FB6DD-6D64-4464-82C1-8DD8DD78A5E7}" type="datetime1">
              <a:rPr lang="pt-BR" smtClean="0"/>
              <a:t>05/05/2026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EtecVAv</a:t>
            </a:r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4C535-F96F-46C9-A026-C6D5DFA8CB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7816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bg>
      <p:bgPr>
        <a:gradFill rotWithShape="1">
          <a:gsLst>
            <a:gs pos="0">
              <a:schemeClr val="bg1">
                <a:tint val="93000"/>
                <a:satMod val="150000"/>
                <a:shade val="98000"/>
                <a:lumMod val="102000"/>
              </a:schemeClr>
            </a:gs>
            <a:gs pos="50000">
              <a:schemeClr val="accent2">
                <a:lumMod val="75000"/>
              </a:schemeClr>
            </a:gs>
            <a:gs pos="100000">
              <a:schemeClr val="bg1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EA2D4-3429-42A3-A456-2FC708262FF8}" type="datetime1">
              <a:rPr lang="pt-BR" smtClean="0"/>
              <a:t>05/05/2026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EtecVAv</a:t>
            </a:r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4C535-F96F-46C9-A026-C6D5DFA8CB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11329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bg>
      <p:bgPr>
        <a:gradFill rotWithShape="1">
          <a:gsLst>
            <a:gs pos="0">
              <a:schemeClr val="bg1">
                <a:tint val="93000"/>
                <a:satMod val="150000"/>
                <a:shade val="98000"/>
                <a:lumMod val="102000"/>
              </a:schemeClr>
            </a:gs>
            <a:gs pos="50000">
              <a:schemeClr val="accent2">
                <a:lumMod val="75000"/>
              </a:schemeClr>
            </a:gs>
            <a:gs pos="100000">
              <a:schemeClr val="bg1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6A8CE-31B7-4E3C-855F-38263DDDBD27}" type="datetime1">
              <a:rPr lang="pt-BR" smtClean="0"/>
              <a:t>05/05/2026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EtecVAv</a:t>
            </a:r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4C535-F96F-46C9-A026-C6D5DFA8CB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48300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bg>
      <p:bgPr>
        <a:gradFill rotWithShape="1">
          <a:gsLst>
            <a:gs pos="0">
              <a:schemeClr val="bg1">
                <a:tint val="93000"/>
                <a:satMod val="150000"/>
                <a:shade val="98000"/>
                <a:lumMod val="102000"/>
              </a:schemeClr>
            </a:gs>
            <a:gs pos="50000">
              <a:schemeClr val="accent2">
                <a:lumMod val="75000"/>
              </a:schemeClr>
            </a:gs>
            <a:gs pos="100000">
              <a:schemeClr val="bg1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0EBE8-0107-48B1-9A4C-2345EB50C816}" type="datetime1">
              <a:rPr lang="pt-BR" smtClean="0"/>
              <a:t>05/05/2026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EtecVAv</a:t>
            </a: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4C535-F96F-46C9-A026-C6D5DFA8CB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53580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bg>
      <p:bgPr>
        <a:gradFill rotWithShape="1">
          <a:gsLst>
            <a:gs pos="0">
              <a:schemeClr val="bg1">
                <a:tint val="93000"/>
                <a:satMod val="150000"/>
                <a:shade val="98000"/>
                <a:lumMod val="102000"/>
              </a:schemeClr>
            </a:gs>
            <a:gs pos="50000">
              <a:schemeClr val="accent2">
                <a:lumMod val="75000"/>
              </a:schemeClr>
            </a:gs>
            <a:gs pos="100000">
              <a:schemeClr val="bg1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9D115-1D14-49CF-AAD2-FC8CF7D17018}" type="datetime1">
              <a:rPr lang="pt-BR" smtClean="0"/>
              <a:t>05/05/2026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EtecVAv</a:t>
            </a: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4C535-F96F-46C9-A026-C6D5DFA8CB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83242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tint val="93000"/>
                <a:satMod val="150000"/>
                <a:shade val="98000"/>
                <a:lumMod val="102000"/>
              </a:schemeClr>
            </a:gs>
            <a:gs pos="75000">
              <a:schemeClr val="accent2">
                <a:lumMod val="75000"/>
              </a:schemeClr>
            </a:gs>
            <a:gs pos="100000">
              <a:schemeClr val="bg1">
                <a:shade val="63000"/>
                <a:satMod val="120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C8CCA5-5735-417B-A729-AE24C814A58E}" type="datetime1">
              <a:rPr lang="pt-BR" smtClean="0"/>
              <a:t>05/05/2026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 smtClean="0"/>
              <a:t>EtecVAv</a:t>
            </a: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E4C535-F96F-46C9-A026-C6D5DFA8CB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37039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/>
            </a:r>
            <a:br>
              <a:rPr lang="pt-BR" dirty="0" smtClean="0"/>
            </a:br>
            <a:r>
              <a:rPr lang="pt-BR" dirty="0"/>
              <a:t/>
            </a:r>
            <a:br>
              <a:rPr lang="pt-BR" dirty="0"/>
            </a:br>
            <a:r>
              <a:rPr lang="pt-BR" dirty="0" smtClean="0">
                <a:solidFill>
                  <a:schemeClr val="accent2">
                    <a:lumMod val="75000"/>
                  </a:schemeClr>
                </a:solidFill>
                <a:latin typeface="Bell MT" panose="02020503060305020303" pitchFamily="18" charset="0"/>
              </a:rPr>
              <a:t>Pilares Computacionais</a:t>
            </a:r>
            <a:br>
              <a:rPr lang="pt-BR" dirty="0" smtClean="0">
                <a:solidFill>
                  <a:schemeClr val="accent2">
                    <a:lumMod val="75000"/>
                  </a:schemeClr>
                </a:solidFill>
                <a:latin typeface="Bell MT" panose="02020503060305020303" pitchFamily="18" charset="0"/>
              </a:rPr>
            </a:br>
            <a:endParaRPr lang="pt-BR" dirty="0">
              <a:solidFill>
                <a:schemeClr val="accent2">
                  <a:lumMod val="75000"/>
                </a:schemeClr>
              </a:solidFill>
              <a:latin typeface="Bell MT" panose="02020503060305020303" pitchFamily="18" charset="0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Davi de Sousa Melo</a:t>
            </a:r>
          </a:p>
          <a:p>
            <a:r>
              <a:rPr lang="pt-BR" dirty="0" smtClean="0"/>
              <a:t>João Victor Monteiro </a:t>
            </a:r>
            <a:r>
              <a:rPr lang="pt-BR" dirty="0" err="1" smtClean="0"/>
              <a:t>Christo</a:t>
            </a:r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>
            <a:off x="5441658" y="6082019"/>
            <a:ext cx="1308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05/05/2026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3931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>
                <a:solidFill>
                  <a:schemeClr val="accent2">
                    <a:lumMod val="75000"/>
                  </a:schemeClr>
                </a:solidFill>
                <a:latin typeface="Bell MT" panose="02020503060305020303" pitchFamily="18" charset="0"/>
              </a:rPr>
              <a:t>Apresentadores</a:t>
            </a:r>
            <a:endParaRPr lang="pt-BR" dirty="0">
              <a:solidFill>
                <a:schemeClr val="accent2">
                  <a:lumMod val="75000"/>
                </a:schemeClr>
              </a:solidFill>
              <a:latin typeface="Bell MT" panose="02020503060305020303" pitchFamily="18" charset="0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576914"/>
            <a:ext cx="4354585" cy="369332"/>
          </a:xfrm>
          <a:noFill/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pt-BR" dirty="0" smtClean="0"/>
              <a:t>Davi de Sousa Melo</a:t>
            </a:r>
          </a:p>
          <a:p>
            <a:pPr marL="0" indent="0">
              <a:buNone/>
            </a:pPr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EtecVAV</a:t>
            </a:r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4C535-F96F-46C9-A026-C6D5DFA8CB17}" type="slidenum">
              <a:rPr lang="pt-BR" smtClean="0"/>
              <a:t>2</a:t>
            </a:fld>
            <a:endParaRPr lang="pt-BR"/>
          </a:p>
        </p:txBody>
      </p:sp>
      <p:sp>
        <p:nvSpPr>
          <p:cNvPr id="9" name="CaixaDeTexto 8"/>
          <p:cNvSpPr txBox="1"/>
          <p:nvPr/>
        </p:nvSpPr>
        <p:spPr>
          <a:xfrm>
            <a:off x="7226414" y="1576914"/>
            <a:ext cx="37498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João Victor Monteiro </a:t>
            </a:r>
            <a:r>
              <a:rPr lang="pt-BR" dirty="0" err="1" smtClean="0"/>
              <a:t>Christo</a:t>
            </a:r>
            <a:endParaRPr lang="pt-BR" dirty="0"/>
          </a:p>
        </p:txBody>
      </p:sp>
      <p:sp>
        <p:nvSpPr>
          <p:cNvPr id="10" name="CaixaDeTexto 9"/>
          <p:cNvSpPr txBox="1"/>
          <p:nvPr/>
        </p:nvSpPr>
        <p:spPr>
          <a:xfrm>
            <a:off x="838200" y="2061493"/>
            <a:ext cx="43545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	Nascido no estado de São Paulo (SP), na cidade De Jundiaí.</a:t>
            </a:r>
          </a:p>
          <a:p>
            <a:r>
              <a:rPr lang="pt-BR" dirty="0"/>
              <a:t>	</a:t>
            </a:r>
            <a:r>
              <a:rPr lang="pt-BR" dirty="0" smtClean="0"/>
              <a:t>Tem atualmente 15 anos, e está estudando na </a:t>
            </a:r>
            <a:r>
              <a:rPr lang="pt-BR" dirty="0" err="1" smtClean="0"/>
              <a:t>Etecvav</a:t>
            </a:r>
            <a:r>
              <a:rPr lang="pt-BR" dirty="0" smtClean="0"/>
              <a:t> no 1º ano do ensino médio </a:t>
            </a:r>
          </a:p>
          <a:p>
            <a:endParaRPr lang="pt-BR" dirty="0"/>
          </a:p>
        </p:txBody>
      </p:sp>
      <p:sp>
        <p:nvSpPr>
          <p:cNvPr id="12" name="CaixaDeTexto 11"/>
          <p:cNvSpPr txBox="1"/>
          <p:nvPr/>
        </p:nvSpPr>
        <p:spPr>
          <a:xfrm>
            <a:off x="7226414" y="2061493"/>
            <a:ext cx="374988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	Nascido no estado de Minas Gerais (MG), na cidade de Belo Horizonte</a:t>
            </a:r>
          </a:p>
          <a:p>
            <a:r>
              <a:rPr lang="pt-BR" dirty="0"/>
              <a:t>	</a:t>
            </a:r>
            <a:r>
              <a:rPr lang="pt-BR" dirty="0" smtClean="0"/>
              <a:t>Tem 15 anos e estuda na EtecVAV, no 1º ano, cursando </a:t>
            </a:r>
            <a:r>
              <a:rPr lang="pt-BR" dirty="0" err="1" smtClean="0"/>
              <a:t>infonet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47989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tx1"/>
            </a:gs>
            <a:gs pos="50000">
              <a:schemeClr val="accent2">
                <a:lumMod val="75000"/>
              </a:schemeClr>
            </a:gs>
            <a:gs pos="100000">
              <a:schemeClr val="tx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/>
          <p:nvPr/>
        </p:nvSpPr>
        <p:spPr>
          <a:xfrm>
            <a:off x="838200" y="528761"/>
            <a:ext cx="3296874" cy="99829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ítulo 6"/>
          <p:cNvSpPr>
            <a:spLocks noGrp="1"/>
          </p:cNvSpPr>
          <p:nvPr>
            <p:ph type="title"/>
          </p:nvPr>
        </p:nvSpPr>
        <p:spPr>
          <a:xfrm>
            <a:off x="1476462" y="268448"/>
            <a:ext cx="9877338" cy="1422240"/>
          </a:xfrm>
        </p:spPr>
        <p:txBody>
          <a:bodyPr/>
          <a:lstStyle/>
          <a:p>
            <a:r>
              <a:rPr lang="pt-BR" dirty="0" smtClean="0">
                <a:solidFill>
                  <a:schemeClr val="accent2">
                    <a:lumMod val="75000"/>
                  </a:schemeClr>
                </a:solidFill>
                <a:latin typeface="Bell MT" panose="02020503060305020303" pitchFamily="18" charset="0"/>
              </a:rPr>
              <a:t>Agenda</a:t>
            </a:r>
            <a:endParaRPr lang="pt-BR" dirty="0">
              <a:solidFill>
                <a:schemeClr val="accent2">
                  <a:lumMod val="75000"/>
                </a:schemeClr>
              </a:solidFill>
              <a:latin typeface="Bell MT" panose="02020503060305020303" pitchFamily="18" charset="0"/>
            </a:endParaRPr>
          </a:p>
        </p:txBody>
      </p:sp>
      <p:sp>
        <p:nvSpPr>
          <p:cNvPr id="8" name="Espaço Reservado para Conteúdo 7"/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pt-BR" dirty="0" smtClean="0">
                <a:solidFill>
                  <a:schemeClr val="bg1"/>
                </a:solidFill>
              </a:rPr>
              <a:t>Introdução</a:t>
            </a:r>
            <a:endParaRPr lang="pt-BR" dirty="0">
              <a:solidFill>
                <a:schemeClr val="bg1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pt-BR" dirty="0" smtClean="0">
                <a:solidFill>
                  <a:schemeClr val="bg1"/>
                </a:solidFill>
              </a:rPr>
              <a:t>Pilares Computacionais</a:t>
            </a:r>
            <a:endParaRPr lang="pt-BR" dirty="0">
              <a:solidFill>
                <a:schemeClr val="bg1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pt-BR" dirty="0" smtClean="0">
                <a:solidFill>
                  <a:schemeClr val="bg1"/>
                </a:solidFill>
              </a:rPr>
              <a:t>Interfaces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 smtClean="0">
                <a:solidFill>
                  <a:schemeClr val="bg1"/>
                </a:solidFill>
              </a:rPr>
              <a:t>Inteligência Artificial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 smtClean="0">
                <a:solidFill>
                  <a:schemeClr val="bg1"/>
                </a:solidFill>
              </a:rPr>
              <a:t>Big Data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 smtClean="0">
                <a:solidFill>
                  <a:schemeClr val="bg1"/>
                </a:solidFill>
              </a:rPr>
              <a:t>Aplicações no Cotidiano</a:t>
            </a:r>
            <a:endParaRPr lang="pt-BR" dirty="0">
              <a:solidFill>
                <a:schemeClr val="bg1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pt-BR" dirty="0" smtClean="0">
                <a:solidFill>
                  <a:schemeClr val="bg1"/>
                </a:solidFill>
              </a:rPr>
              <a:t>Conclusão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EtecVAV</a:t>
            </a:r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4C535-F96F-46C9-A026-C6D5DFA8CB17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83221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4169328" y="2734811"/>
            <a:ext cx="3825380" cy="93956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1505474" y="2554652"/>
            <a:ext cx="9181051" cy="1325563"/>
          </a:xfrm>
        </p:spPr>
        <p:txBody>
          <a:bodyPr/>
          <a:lstStyle/>
          <a:p>
            <a:pPr algn="ctr"/>
            <a:r>
              <a:rPr lang="pt-BR" dirty="0" smtClean="0">
                <a:solidFill>
                  <a:schemeClr val="accent2">
                    <a:lumMod val="75000"/>
                  </a:schemeClr>
                </a:solidFill>
                <a:latin typeface="Bell MT" panose="02020503060305020303" pitchFamily="18" charset="0"/>
              </a:rPr>
              <a:t>Introdução</a:t>
            </a:r>
            <a:endParaRPr lang="pt-BR" dirty="0">
              <a:solidFill>
                <a:schemeClr val="accent2">
                  <a:lumMod val="75000"/>
                </a:schemeClr>
              </a:solidFill>
              <a:latin typeface="Bell MT" panose="02020503060305020303" pitchFamily="18" charset="0"/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EtecVAV</a:t>
            </a:r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4C535-F96F-46C9-A026-C6D5DFA8CB17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2481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604007" y="461394"/>
            <a:ext cx="3229762" cy="109895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>
                <a:solidFill>
                  <a:schemeClr val="accent2">
                    <a:lumMod val="75000"/>
                  </a:schemeClr>
                </a:solidFill>
                <a:latin typeface="Bell MT" panose="02020503060305020303" pitchFamily="18" charset="0"/>
              </a:rPr>
              <a:t>Introdução</a:t>
            </a:r>
            <a:endParaRPr lang="pt-BR" dirty="0">
              <a:solidFill>
                <a:schemeClr val="accent2">
                  <a:lumMod val="75000"/>
                </a:schemeClr>
              </a:solidFill>
              <a:latin typeface="Bell MT" panose="02020503060305020303" pitchFamily="18" charset="0"/>
            </a:endParaRPr>
          </a:p>
        </p:txBody>
      </p:sp>
      <p:sp>
        <p:nvSpPr>
          <p:cNvPr id="5" name="Espaço Reservado para Conteúdo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Os pilares do pensamento computacional representam uma forma estruturada de raciocínio voltada para a resolução de </a:t>
            </a:r>
            <a:r>
              <a:rPr lang="pt-BR" dirty="0" smtClean="0"/>
              <a:t>problemas.</a:t>
            </a:r>
          </a:p>
          <a:p>
            <a:r>
              <a:rPr lang="pt-BR" dirty="0" smtClean="0"/>
              <a:t>Em um mundo cada vez mais orientado por dados, tecnologia e inovação, essa abordagem deixou de ser exclusiva da programação e passou a ser uma competência essencial em diversas áreas. Ela permite analisar situações complexas, organizar informações e tomar decisões de forma mais lógica e eficiente.</a:t>
            </a:r>
            <a:endParaRPr lang="pt-BR" dirty="0"/>
          </a:p>
          <a:p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EtecVAV</a:t>
            </a:r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4C535-F96F-46C9-A026-C6D5DFA8CB17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8681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3204594" y="2676088"/>
            <a:ext cx="5780015" cy="88084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ítulo 5"/>
          <p:cNvSpPr>
            <a:spLocks noGrp="1"/>
          </p:cNvSpPr>
          <p:nvPr>
            <p:ph type="title"/>
          </p:nvPr>
        </p:nvSpPr>
        <p:spPr>
          <a:xfrm>
            <a:off x="968579" y="2462373"/>
            <a:ext cx="10254842" cy="1325563"/>
          </a:xfrm>
        </p:spPr>
        <p:txBody>
          <a:bodyPr/>
          <a:lstStyle/>
          <a:p>
            <a:pPr algn="ctr"/>
            <a:r>
              <a:rPr lang="pt-BR" dirty="0" smtClean="0">
                <a:solidFill>
                  <a:schemeClr val="accent2">
                    <a:lumMod val="75000"/>
                  </a:schemeClr>
                </a:solidFill>
                <a:latin typeface="Bell MT" panose="02020503060305020303" pitchFamily="18" charset="0"/>
              </a:rPr>
              <a:t>Pilares Computacionais</a:t>
            </a:r>
            <a:endParaRPr lang="pt-BR" dirty="0">
              <a:solidFill>
                <a:schemeClr val="accent2">
                  <a:lumMod val="75000"/>
                </a:schemeClr>
              </a:solidFill>
              <a:latin typeface="Bell MT" panose="02020503060305020303" pitchFamily="18" charset="0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EtecVAV</a:t>
            </a:r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4C535-F96F-46C9-A026-C6D5DFA8CB17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9144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755009" y="587229"/>
            <a:ext cx="5645791" cy="89762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>
                <a:solidFill>
                  <a:schemeClr val="accent2">
                    <a:lumMod val="75000"/>
                  </a:schemeClr>
                </a:solidFill>
                <a:latin typeface="Bell MT" panose="02020503060305020303" pitchFamily="18" charset="0"/>
              </a:rPr>
              <a:t>Pilares Computacionais</a:t>
            </a:r>
            <a:endParaRPr lang="pt-BR" dirty="0">
              <a:solidFill>
                <a:schemeClr val="accent2">
                  <a:lumMod val="75000"/>
                </a:schemeClr>
              </a:solidFill>
              <a:latin typeface="Bell MT" panose="02020503060305020303" pitchFamily="18" charset="0"/>
            </a:endParaRPr>
          </a:p>
        </p:txBody>
      </p:sp>
      <p:sp>
        <p:nvSpPr>
          <p:cNvPr id="6" name="Espaço Reservado para Conteúdo 5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BR" dirty="0" smtClean="0"/>
              <a:t>Os </a:t>
            </a:r>
            <a:r>
              <a:rPr lang="pt-BR" dirty="0"/>
              <a:t>quatro pilares fundamentais são:</a:t>
            </a:r>
          </a:p>
          <a:p>
            <a:r>
              <a:rPr lang="pt-BR" dirty="0"/>
              <a:t>Decomposição: dividir problemas complexos em partes menores e mais fáceis de resolver.</a:t>
            </a:r>
          </a:p>
          <a:p>
            <a:r>
              <a:rPr lang="pt-BR" dirty="0"/>
              <a:t>Reconhecimento de padrões: identificar repetições e tendências que ajudam a prever e solucionar problemas.</a:t>
            </a:r>
          </a:p>
          <a:p>
            <a:r>
              <a:rPr lang="pt-BR" dirty="0"/>
              <a:t>Abstração: focar apenas nas informações mais relevantes, ignorando detalhes desnecessários.</a:t>
            </a:r>
          </a:p>
          <a:p>
            <a:r>
              <a:rPr lang="pt-BR" dirty="0"/>
              <a:t>Algoritmos: criar sequências lógicas de passos para chegar a uma solução eficiente.</a:t>
            </a:r>
          </a:p>
          <a:p>
            <a:r>
              <a:rPr lang="pt-BR" dirty="0"/>
              <a:t>Esses pilares, quando utilizados em conjunto, tornam a resolução de problemas mais clara, organizada e eficaz.</a:t>
            </a:r>
          </a:p>
          <a:p>
            <a:pPr marL="0" indent="0">
              <a:buNone/>
            </a:pPr>
            <a:endParaRPr lang="pt-BR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EtecVAV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4C535-F96F-46C9-A026-C6D5DFA8CB17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1275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3000"/>
                <a:satMod val="150000"/>
                <a:shade val="98000"/>
                <a:lumMod val="102000"/>
              </a:schemeClr>
            </a:gs>
            <a:gs pos="53000">
              <a:schemeClr val="accent2">
                <a:lumMod val="75000"/>
              </a:schemeClr>
            </a:gs>
            <a:gs pos="100000">
              <a:schemeClr val="bg1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4584440" y="2516995"/>
            <a:ext cx="3023119" cy="83042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ítulo 5"/>
          <p:cNvSpPr>
            <a:spLocks noGrp="1"/>
          </p:cNvSpPr>
          <p:nvPr>
            <p:ph type="title"/>
          </p:nvPr>
        </p:nvSpPr>
        <p:spPr>
          <a:xfrm>
            <a:off x="1909544" y="2269426"/>
            <a:ext cx="8372912" cy="1325563"/>
          </a:xfrm>
        </p:spPr>
        <p:txBody>
          <a:bodyPr/>
          <a:lstStyle/>
          <a:p>
            <a:pPr algn="ctr"/>
            <a:r>
              <a:rPr lang="pt-BR" dirty="0" smtClean="0">
                <a:solidFill>
                  <a:schemeClr val="accent2">
                    <a:lumMod val="75000"/>
                  </a:schemeClr>
                </a:solidFill>
                <a:latin typeface="Bell MT" panose="02020503060305020303" pitchFamily="18" charset="0"/>
              </a:rPr>
              <a:t>Interfaces</a:t>
            </a:r>
            <a:endParaRPr lang="pt-BR" dirty="0">
              <a:solidFill>
                <a:schemeClr val="accent2">
                  <a:lumMod val="75000"/>
                </a:schemeClr>
              </a:solidFill>
              <a:latin typeface="Bell MT" panose="02020503060305020303" pitchFamily="18" charset="0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EtecVAV</a:t>
            </a:r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4C535-F96F-46C9-A026-C6D5DFA8CB17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7253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>
                <a:solidFill>
                  <a:schemeClr val="accent2">
                    <a:lumMod val="75000"/>
                  </a:schemeClr>
                </a:solidFill>
                <a:latin typeface="Bell MT" panose="02020503060305020303" pitchFamily="18" charset="0"/>
              </a:rPr>
              <a:t>Interfaces</a:t>
            </a:r>
            <a:endParaRPr lang="pt-BR" dirty="0">
              <a:solidFill>
                <a:schemeClr val="accent2">
                  <a:lumMod val="75000"/>
                </a:schemeClr>
              </a:solidFill>
              <a:latin typeface="Bell MT" panose="02020503060305020303" pitchFamily="18" charset="0"/>
            </a:endParaRPr>
          </a:p>
        </p:txBody>
      </p:sp>
      <p:sp>
        <p:nvSpPr>
          <p:cNvPr id="6" name="Espaço Reservado para Conteúdo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As interfaces representam os meios pelos quais as pessoas interagem com sistemas e tecnologias. Nesse contexto, o pensamento computacional facilita o uso eficiente de ferramentas digitais, como aplicativos, sistemas de gestão e plataformas online. </a:t>
            </a:r>
            <a:endParaRPr lang="pt-BR" dirty="0" smtClean="0"/>
          </a:p>
          <a:p>
            <a:r>
              <a:rPr lang="pt-BR" dirty="0" smtClean="0"/>
              <a:t>Ele permite compreender melhor como essas interfaces funcionam, tornando o uso mais intuitivo, organizado e produtivo, além de contribuir para a criação de soluções mais acessíveis e centradas no usuário.</a:t>
            </a: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EtecVAV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4C535-F96F-46C9-A026-C6D5DFA8CB17}" type="slidenum">
              <a:rPr lang="pt-BR" smtClean="0"/>
              <a:t>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02735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3000"/>
                <a:satMod val="150000"/>
                <a:shade val="98000"/>
                <a:lumMod val="102000"/>
              </a:schemeClr>
            </a:gs>
            <a:gs pos="53000">
              <a:schemeClr val="accent2">
                <a:lumMod val="75000"/>
              </a:schemeClr>
            </a:gs>
            <a:gs pos="100000">
              <a:schemeClr val="bg1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3501957" y="2516995"/>
            <a:ext cx="5108643" cy="83042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ítulo 5"/>
          <p:cNvSpPr>
            <a:spLocks noGrp="1"/>
          </p:cNvSpPr>
          <p:nvPr>
            <p:ph type="title"/>
          </p:nvPr>
        </p:nvSpPr>
        <p:spPr>
          <a:xfrm>
            <a:off x="1909544" y="2269426"/>
            <a:ext cx="8372912" cy="1325563"/>
          </a:xfrm>
        </p:spPr>
        <p:txBody>
          <a:bodyPr/>
          <a:lstStyle/>
          <a:p>
            <a:pPr algn="ctr"/>
            <a:r>
              <a:rPr lang="pt-BR" dirty="0" smtClean="0">
                <a:solidFill>
                  <a:schemeClr val="accent2">
                    <a:lumMod val="75000"/>
                  </a:schemeClr>
                </a:solidFill>
                <a:latin typeface="Bell MT" panose="02020503060305020303" pitchFamily="18" charset="0"/>
              </a:rPr>
              <a:t>Inteligência Artificial</a:t>
            </a:r>
            <a:endParaRPr lang="pt-BR" dirty="0">
              <a:solidFill>
                <a:schemeClr val="accent2">
                  <a:lumMod val="75000"/>
                </a:schemeClr>
              </a:solidFill>
              <a:latin typeface="Bell MT" panose="02020503060305020303" pitchFamily="18" charset="0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EtecVAV</a:t>
            </a:r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4C535-F96F-46C9-A026-C6D5DFA8CB17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2537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>
                <a:solidFill>
                  <a:schemeClr val="accent2">
                    <a:lumMod val="75000"/>
                  </a:schemeClr>
                </a:solidFill>
                <a:latin typeface="Bell MT" panose="02020503060305020303" pitchFamily="18" charset="0"/>
              </a:rPr>
              <a:t>Inteligência Artificial</a:t>
            </a:r>
            <a:endParaRPr lang="pt-BR" dirty="0">
              <a:solidFill>
                <a:schemeClr val="accent2">
                  <a:lumMod val="75000"/>
                </a:schemeClr>
              </a:solidFill>
              <a:latin typeface="Bell MT" panose="02020503060305020303" pitchFamily="18" charset="0"/>
            </a:endParaRPr>
          </a:p>
        </p:txBody>
      </p:sp>
      <p:sp>
        <p:nvSpPr>
          <p:cNvPr id="6" name="Espaço Reservado para Conteúdo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Inteligência Artificial (IA) refere-se à capacidade de sistemas computacionais realizarem tarefas que normalmente exigiriam inteligência humana, como reconhecimento de padrões, tomada de decisões e aprendizado a partir de </a:t>
            </a:r>
            <a:r>
              <a:rPr lang="pt-BR" dirty="0" smtClean="0"/>
              <a:t>dados</a:t>
            </a:r>
          </a:p>
          <a:p>
            <a:r>
              <a:rPr lang="pt-BR" dirty="0"/>
              <a:t>A IA está diretamente relacionada ao pensamento computacional, pois utiliza os pilares como base para seu funcionamento. Algoritmos são fundamentais nesse processo, permitindo que máquinas analisem informações, aprendam com experiências anteriores e realizem previsões.</a:t>
            </a:r>
          </a:p>
          <a:p>
            <a:endParaRPr lang="pt-BR" dirty="0" smtClean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EtecVAV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4C535-F96F-46C9-A026-C6D5DFA8CB17}" type="slidenum">
              <a:rPr lang="pt-BR" smtClean="0"/>
              <a:t>11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08077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3000"/>
                <a:satMod val="150000"/>
                <a:shade val="98000"/>
                <a:lumMod val="102000"/>
              </a:schemeClr>
            </a:gs>
            <a:gs pos="53000">
              <a:schemeClr val="accent2">
                <a:lumMod val="75000"/>
              </a:schemeClr>
            </a:gs>
            <a:gs pos="100000">
              <a:schemeClr val="bg1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4435813" y="2516995"/>
            <a:ext cx="3463047" cy="83042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ítulo 5"/>
          <p:cNvSpPr>
            <a:spLocks noGrp="1"/>
          </p:cNvSpPr>
          <p:nvPr>
            <p:ph type="title"/>
          </p:nvPr>
        </p:nvSpPr>
        <p:spPr>
          <a:xfrm>
            <a:off x="1909544" y="2269426"/>
            <a:ext cx="8372912" cy="1325563"/>
          </a:xfrm>
        </p:spPr>
        <p:txBody>
          <a:bodyPr/>
          <a:lstStyle/>
          <a:p>
            <a:pPr algn="ctr"/>
            <a:r>
              <a:rPr lang="pt-BR" dirty="0" smtClean="0">
                <a:solidFill>
                  <a:schemeClr val="accent2">
                    <a:lumMod val="75000"/>
                  </a:schemeClr>
                </a:solidFill>
                <a:latin typeface="Bell MT" panose="02020503060305020303" pitchFamily="18" charset="0"/>
              </a:rPr>
              <a:t>Big Data</a:t>
            </a:r>
            <a:endParaRPr lang="pt-BR" dirty="0">
              <a:solidFill>
                <a:schemeClr val="accent2">
                  <a:lumMod val="75000"/>
                </a:schemeClr>
              </a:solidFill>
              <a:latin typeface="Bell MT" panose="02020503060305020303" pitchFamily="18" charset="0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EtecVAV</a:t>
            </a:r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4C535-F96F-46C9-A026-C6D5DFA8CB17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190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>
                <a:solidFill>
                  <a:schemeClr val="accent2">
                    <a:lumMod val="75000"/>
                  </a:schemeClr>
                </a:solidFill>
                <a:latin typeface="Bell MT" panose="02020503060305020303" pitchFamily="18" charset="0"/>
              </a:rPr>
              <a:t>Big Data </a:t>
            </a:r>
            <a:endParaRPr lang="pt-BR" dirty="0">
              <a:solidFill>
                <a:schemeClr val="accent2">
                  <a:lumMod val="75000"/>
                </a:schemeClr>
              </a:solidFill>
              <a:latin typeface="Bell MT" panose="02020503060305020303" pitchFamily="18" charset="0"/>
            </a:endParaRPr>
          </a:p>
        </p:txBody>
      </p:sp>
      <p:sp>
        <p:nvSpPr>
          <p:cNvPr id="6" name="Espaço Reservado para Conteúdo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termo Big Data refere-se ao grande volume de dados gerados diariamente por pessoas, empresas e sistemas digitais. Esses dados podem ser estruturados ou não estruturados e exigem tecnologias específicas para armazenamento, processamento e análise.</a:t>
            </a:r>
          </a:p>
          <a:p>
            <a:r>
              <a:rPr lang="pt-BR" dirty="0"/>
              <a:t>O pensamento computacional é essencial para lidar com o Big Data, pois permite organizar, filtrar e interpretar grandes quantidades de informação. Por meio de algoritmos e técnicas de análise, é possível identificar padrões, tendências e insights importantes para a tomada de decisões.</a:t>
            </a:r>
          </a:p>
          <a:p>
            <a:endParaRPr lang="pt-BR" dirty="0" smtClean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EtecVAV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4C535-F96F-46C9-A026-C6D5DFA8CB17}" type="slidenum">
              <a:rPr lang="pt-BR" smtClean="0"/>
              <a:t>13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75151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3000"/>
                <a:satMod val="150000"/>
                <a:shade val="98000"/>
                <a:lumMod val="102000"/>
              </a:schemeClr>
            </a:gs>
            <a:gs pos="53000">
              <a:schemeClr val="accent2">
                <a:lumMod val="75000"/>
              </a:schemeClr>
            </a:gs>
            <a:gs pos="100000">
              <a:schemeClr val="bg1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4364476" y="2434796"/>
            <a:ext cx="3463047" cy="132556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ítulo 5"/>
          <p:cNvSpPr>
            <a:spLocks noGrp="1"/>
          </p:cNvSpPr>
          <p:nvPr>
            <p:ph type="title"/>
          </p:nvPr>
        </p:nvSpPr>
        <p:spPr>
          <a:xfrm>
            <a:off x="1909544" y="2509736"/>
            <a:ext cx="8421230" cy="1108953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 smtClean="0">
                <a:solidFill>
                  <a:schemeClr val="accent2">
                    <a:lumMod val="75000"/>
                  </a:schemeClr>
                </a:solidFill>
                <a:latin typeface="Bell MT" panose="02020503060305020303" pitchFamily="18" charset="0"/>
              </a:rPr>
              <a:t>Aplicações</a:t>
            </a:r>
            <a:br>
              <a:rPr lang="pt-BR" dirty="0" smtClean="0">
                <a:solidFill>
                  <a:schemeClr val="accent2">
                    <a:lumMod val="75000"/>
                  </a:schemeClr>
                </a:solidFill>
                <a:latin typeface="Bell MT" panose="02020503060305020303" pitchFamily="18" charset="0"/>
              </a:rPr>
            </a:br>
            <a:r>
              <a:rPr lang="pt-BR" dirty="0" smtClean="0">
                <a:solidFill>
                  <a:schemeClr val="accent2">
                    <a:lumMod val="75000"/>
                  </a:schemeClr>
                </a:solidFill>
                <a:latin typeface="Bell MT" panose="02020503060305020303" pitchFamily="18" charset="0"/>
              </a:rPr>
              <a:t>no Cotidiano</a:t>
            </a:r>
            <a:endParaRPr lang="pt-BR" dirty="0">
              <a:solidFill>
                <a:schemeClr val="accent2">
                  <a:lumMod val="75000"/>
                </a:schemeClr>
              </a:solidFill>
              <a:latin typeface="Bell MT" panose="02020503060305020303" pitchFamily="18" charset="0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EtecVAV</a:t>
            </a:r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4C535-F96F-46C9-A026-C6D5DFA8CB17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3731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>
                <a:solidFill>
                  <a:schemeClr val="accent2">
                    <a:lumMod val="75000"/>
                  </a:schemeClr>
                </a:solidFill>
                <a:latin typeface="Bell MT" panose="02020503060305020303" pitchFamily="18" charset="0"/>
              </a:rPr>
              <a:t>Aplicações no Cotidiano </a:t>
            </a:r>
            <a:endParaRPr lang="pt-BR" dirty="0">
              <a:solidFill>
                <a:schemeClr val="accent2">
                  <a:lumMod val="75000"/>
                </a:schemeClr>
              </a:solidFill>
              <a:latin typeface="Bell MT" panose="02020503060305020303" pitchFamily="18" charset="0"/>
            </a:endParaRPr>
          </a:p>
        </p:txBody>
      </p:sp>
      <p:sp>
        <p:nvSpPr>
          <p:cNvPr id="6" name="Espaço Reservado para Conteúdo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Os conceitos de pensamento computacional, Inteligência Artificial e Big Data estão cada vez mais presentes no dia a dia das pessoas. Aplicativos de redes sociais utilizam algoritmos para recomendar conteúdos personalizados, enquanto plataformas de streaming sugerem filmes e músicas com base no comportamento do usuário.</a:t>
            </a:r>
          </a:p>
          <a:p>
            <a:r>
              <a:rPr lang="pt-BR" dirty="0"/>
              <a:t>Além disso, aplicativos de navegação utilizam dados em tempo real para indicar as melhores rotas, e sistemas bancários utilizam IA para detectar fraudes e aumentar a segurança das transações. Até mesmo em compras online, algoritmos analisam preferências para oferecer produtos mais relevantes.</a:t>
            </a:r>
          </a:p>
          <a:p>
            <a:endParaRPr lang="pt-BR" dirty="0" smtClean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EtecVAV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4C535-F96F-46C9-A026-C6D5DFA8CB17}" type="slidenum">
              <a:rPr lang="pt-BR" smtClean="0"/>
              <a:t>15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22235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4561114" y="2528166"/>
            <a:ext cx="3069771" cy="858416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Título 5"/>
          <p:cNvSpPr>
            <a:spLocks noGrp="1"/>
          </p:cNvSpPr>
          <p:nvPr>
            <p:ph type="title"/>
          </p:nvPr>
        </p:nvSpPr>
        <p:spPr>
          <a:xfrm>
            <a:off x="1850821" y="2294593"/>
            <a:ext cx="8490358" cy="1325563"/>
          </a:xfrm>
        </p:spPr>
        <p:txBody>
          <a:bodyPr/>
          <a:lstStyle/>
          <a:p>
            <a:pPr algn="ctr"/>
            <a:r>
              <a:rPr lang="pt-BR" dirty="0" smtClean="0">
                <a:solidFill>
                  <a:schemeClr val="accent2">
                    <a:lumMod val="75000"/>
                  </a:schemeClr>
                </a:solidFill>
                <a:latin typeface="Bell MT" panose="02020503060305020303" pitchFamily="18" charset="0"/>
              </a:rPr>
              <a:t>Conclusão</a:t>
            </a:r>
            <a:endParaRPr lang="pt-BR" dirty="0">
              <a:solidFill>
                <a:schemeClr val="accent2">
                  <a:lumMod val="75000"/>
                </a:schemeClr>
              </a:solidFill>
              <a:latin typeface="Bell MT" panose="02020503060305020303" pitchFamily="18" charset="0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EtecVAV</a:t>
            </a:r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4C535-F96F-46C9-A026-C6D5DFA8CB17}" type="slidenum">
              <a:rPr lang="pt-BR" smtClean="0"/>
              <a:t>16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90132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>
                <a:solidFill>
                  <a:schemeClr val="accent2">
                    <a:lumMod val="75000"/>
                  </a:schemeClr>
                </a:solidFill>
                <a:latin typeface="Bell MT" panose="02020503060305020303" pitchFamily="18" charset="0"/>
              </a:rPr>
              <a:t>Conclusão</a:t>
            </a:r>
            <a:endParaRPr lang="pt-BR" dirty="0">
              <a:solidFill>
                <a:schemeClr val="accent2">
                  <a:lumMod val="75000"/>
                </a:schemeClr>
              </a:solidFill>
              <a:latin typeface="Bell MT" panose="02020503060305020303" pitchFamily="18" charset="0"/>
            </a:endParaRPr>
          </a:p>
        </p:txBody>
      </p:sp>
      <p:sp>
        <p:nvSpPr>
          <p:cNvPr id="6" name="Espaço Reservado para Conteúdo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Os pilares computacionais vão além da área tecnológica e se consolidam como uma habilidade essencial para o século XXI. Sua aplicação contribui para decisões mais racionais, maior eficiência e capacidade de inovação</a:t>
            </a:r>
            <a:r>
              <a:rPr lang="pt-BR" dirty="0" smtClean="0"/>
              <a:t>.</a:t>
            </a:r>
          </a:p>
          <a:p>
            <a:r>
              <a:rPr lang="pt-BR" dirty="0" smtClean="0"/>
              <a:t>Ao dominar essa forma de pensar, indivíduos e organizações se tornam mais preparados para enfrentar desafios, adaptar-se às mudanças e alcançar melhores resultados tanto na vida profissional quanto pessoal.</a:t>
            </a:r>
            <a:endParaRPr lang="pt-BR" dirty="0"/>
          </a:p>
          <a:p>
            <a:endParaRPr lang="pt-BR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EtecVAV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4C535-F96F-46C9-A026-C6D5DFA8CB17}" type="slidenum">
              <a:rPr lang="pt-BR" smtClean="0"/>
              <a:t>17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52102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>
                <a:solidFill>
                  <a:schemeClr val="accent2">
                    <a:lumMod val="75000"/>
                  </a:schemeClr>
                </a:solidFill>
                <a:latin typeface="Bell MT" panose="02020503060305020303" pitchFamily="18" charset="0"/>
              </a:rPr>
              <a:t>Referências</a:t>
            </a:r>
            <a:endParaRPr lang="pt-BR" dirty="0">
              <a:solidFill>
                <a:schemeClr val="accent2">
                  <a:lumMod val="75000"/>
                </a:schemeClr>
              </a:solidFill>
              <a:latin typeface="Bell MT" panose="02020503060305020303" pitchFamily="18" charset="0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pt-BR" dirty="0"/>
              <a:t>WING, </a:t>
            </a:r>
            <a:r>
              <a:rPr lang="pt-BR" dirty="0" err="1"/>
              <a:t>Jeannette</a:t>
            </a:r>
            <a:r>
              <a:rPr lang="pt-BR" dirty="0"/>
              <a:t> M. </a:t>
            </a:r>
            <a:r>
              <a:rPr lang="pt-BR" dirty="0" err="1"/>
              <a:t>Computational</a:t>
            </a:r>
            <a:r>
              <a:rPr lang="pt-BR" dirty="0"/>
              <a:t> </a:t>
            </a:r>
            <a:r>
              <a:rPr lang="pt-BR" dirty="0" err="1"/>
              <a:t>thinking</a:t>
            </a:r>
            <a:r>
              <a:rPr lang="pt-BR" dirty="0"/>
              <a:t>. Communications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ACM, New York, v. 49, n. 3, p. 33–35, 2006</a:t>
            </a:r>
            <a:r>
              <a:rPr lang="pt-BR" dirty="0" smtClean="0"/>
              <a:t>.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ASSOCIATION FOR COMPUTING MACHINERY (ACM). Communications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ACM. New York: ACM, 2006. Disponível em: https://</a:t>
            </a:r>
            <a:r>
              <a:rPr lang="pt-BR" dirty="0" smtClean="0"/>
              <a:t>cacm.acm.org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COMPUTER SCIENCE TEACHERS ASSOCIATION (CSTA). CSTA K–12 Computer Science Standards. New York: CSTA, 2017. Disponível em: https://</a:t>
            </a:r>
            <a:r>
              <a:rPr lang="pt-BR" dirty="0" smtClean="0"/>
              <a:t>www.csteachers.org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INTERNATIONAL SOCIETY FOR TECHNOLOGY IN EDUCATION (ISTE). </a:t>
            </a:r>
            <a:r>
              <a:rPr lang="pt-BR" dirty="0" err="1"/>
              <a:t>Computational</a:t>
            </a:r>
            <a:r>
              <a:rPr lang="pt-BR" dirty="0"/>
              <a:t> </a:t>
            </a:r>
            <a:r>
              <a:rPr lang="pt-BR" dirty="0" err="1"/>
              <a:t>Thinking</a:t>
            </a:r>
            <a:r>
              <a:rPr lang="pt-BR" dirty="0"/>
              <a:t> </a:t>
            </a:r>
            <a:r>
              <a:rPr lang="pt-BR" dirty="0" err="1"/>
              <a:t>Competencies</a:t>
            </a:r>
            <a:r>
              <a:rPr lang="pt-BR" dirty="0"/>
              <a:t>. Arlington: ISTE, 2015. Disponível em: https://</a:t>
            </a:r>
            <a:r>
              <a:rPr lang="pt-BR" dirty="0" smtClean="0"/>
              <a:t>www.iste.org. </a:t>
            </a:r>
            <a:r>
              <a:rPr lang="pt-BR" dirty="0"/>
              <a:t>Acesso em: 22 abr. 2026</a:t>
            </a:r>
            <a:r>
              <a:rPr lang="pt-BR" dirty="0" smtClean="0"/>
              <a:t>.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BBC. </a:t>
            </a:r>
            <a:r>
              <a:rPr lang="pt-BR" dirty="0" err="1"/>
              <a:t>Introduction</a:t>
            </a:r>
            <a:r>
              <a:rPr lang="pt-BR" dirty="0"/>
              <a:t>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computational</a:t>
            </a:r>
            <a:r>
              <a:rPr lang="pt-BR" dirty="0"/>
              <a:t> </a:t>
            </a:r>
            <a:r>
              <a:rPr lang="pt-BR" dirty="0" err="1"/>
              <a:t>thinking</a:t>
            </a:r>
            <a:r>
              <a:rPr lang="pt-BR" dirty="0"/>
              <a:t>. London: BBC </a:t>
            </a:r>
            <a:r>
              <a:rPr lang="pt-BR" dirty="0" err="1"/>
              <a:t>Bitesize</a:t>
            </a:r>
            <a:r>
              <a:rPr lang="pt-BR" dirty="0"/>
              <a:t>, 2020. Disponível em: https://</a:t>
            </a:r>
            <a:r>
              <a:rPr lang="pt-BR" dirty="0" smtClean="0"/>
              <a:t>www.bbc.co.uk/bitesize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GOOGLE FOR EDUCATION. </a:t>
            </a:r>
            <a:r>
              <a:rPr lang="pt-BR" dirty="0" err="1"/>
              <a:t>Computational</a:t>
            </a:r>
            <a:r>
              <a:rPr lang="pt-BR" dirty="0"/>
              <a:t> </a:t>
            </a:r>
            <a:r>
              <a:rPr lang="pt-BR" dirty="0" err="1"/>
              <a:t>thinking</a:t>
            </a:r>
            <a:r>
              <a:rPr lang="pt-BR" dirty="0"/>
              <a:t> for </a:t>
            </a:r>
            <a:r>
              <a:rPr lang="pt-BR" dirty="0" err="1"/>
              <a:t>educators</a:t>
            </a:r>
            <a:r>
              <a:rPr lang="pt-BR" dirty="0"/>
              <a:t>. Mountain </a:t>
            </a:r>
            <a:r>
              <a:rPr lang="pt-BR" dirty="0" err="1"/>
              <a:t>View</a:t>
            </a:r>
            <a:r>
              <a:rPr lang="pt-BR" dirty="0"/>
              <a:t>: Google, 2019. Disponível em: https://</a:t>
            </a:r>
            <a:r>
              <a:rPr lang="pt-BR" dirty="0" smtClean="0"/>
              <a:t>edu.google.com</a:t>
            </a:r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EtecVAV</a:t>
            </a:r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4C535-F96F-46C9-A026-C6D5DFA8CB17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6419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/>
            </a:r>
            <a:br>
              <a:rPr lang="pt-BR" dirty="0" smtClean="0"/>
            </a:br>
            <a:r>
              <a:rPr lang="pt-BR" dirty="0"/>
              <a:t/>
            </a:r>
            <a:br>
              <a:rPr lang="pt-BR" dirty="0"/>
            </a:br>
            <a:r>
              <a:rPr lang="pt-BR" dirty="0" smtClean="0">
                <a:solidFill>
                  <a:schemeClr val="accent2">
                    <a:lumMod val="75000"/>
                  </a:schemeClr>
                </a:solidFill>
                <a:latin typeface="Bell MT" panose="02020503060305020303" pitchFamily="18" charset="0"/>
              </a:rPr>
              <a:t>Pilares Computacionais</a:t>
            </a:r>
            <a:r>
              <a:rPr lang="pt-BR" dirty="0" smtClean="0"/>
              <a:t/>
            </a:r>
            <a:br>
              <a:rPr lang="pt-BR" dirty="0" smtClean="0"/>
            </a:b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Davi de Sousa Melo – davidessousamelo@gmail.com</a:t>
            </a:r>
          </a:p>
          <a:p>
            <a:r>
              <a:rPr lang="pt-BR" dirty="0" smtClean="0"/>
              <a:t>João Victor Monteiro </a:t>
            </a:r>
            <a:r>
              <a:rPr lang="pt-BR" dirty="0" err="1" smtClean="0"/>
              <a:t>Christo</a:t>
            </a:r>
            <a:r>
              <a:rPr lang="pt-BR" dirty="0"/>
              <a:t> </a:t>
            </a:r>
            <a:r>
              <a:rPr lang="pt-BR" dirty="0" smtClean="0"/>
              <a:t>– jvictormc2010@gmail.com</a:t>
            </a:r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>
            <a:off x="5441658" y="6082019"/>
            <a:ext cx="1308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05</a:t>
            </a:r>
            <a:r>
              <a:rPr lang="pt-BR" dirty="0" smtClean="0"/>
              <a:t>/05/2026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27762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130</TotalTime>
  <Words>881</Words>
  <Application>Microsoft Office PowerPoint</Application>
  <PresentationFormat>Widescreen</PresentationFormat>
  <Paragraphs>101</Paragraphs>
  <Slides>19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4" baseType="lpstr">
      <vt:lpstr>Arial</vt:lpstr>
      <vt:lpstr>Bell MT</vt:lpstr>
      <vt:lpstr>Calibri</vt:lpstr>
      <vt:lpstr>Calibri Light</vt:lpstr>
      <vt:lpstr>Tema do Office</vt:lpstr>
      <vt:lpstr>  Pilares Computacionais </vt:lpstr>
      <vt:lpstr>Apresentadores</vt:lpstr>
      <vt:lpstr>Agenda</vt:lpstr>
      <vt:lpstr>Introdução</vt:lpstr>
      <vt:lpstr>Introdução</vt:lpstr>
      <vt:lpstr>Pilares Computacionais</vt:lpstr>
      <vt:lpstr>Pilares Computacionais</vt:lpstr>
      <vt:lpstr>Interfaces</vt:lpstr>
      <vt:lpstr>Interfaces</vt:lpstr>
      <vt:lpstr>Inteligência Artificial</vt:lpstr>
      <vt:lpstr>Inteligência Artificial</vt:lpstr>
      <vt:lpstr>Big Data</vt:lpstr>
      <vt:lpstr>Big Data </vt:lpstr>
      <vt:lpstr>Aplicações no Cotidiano</vt:lpstr>
      <vt:lpstr>Aplicações no Cotidiano </vt:lpstr>
      <vt:lpstr>Conclusão</vt:lpstr>
      <vt:lpstr>Conclusão</vt:lpstr>
      <vt:lpstr>Referências</vt:lpstr>
      <vt:lpstr>  Pilares Computacionais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Pilares Computacionais</dc:title>
  <dc:creator>EtecVAV</dc:creator>
  <cp:lastModifiedBy>EtecVAV</cp:lastModifiedBy>
  <cp:revision>13</cp:revision>
  <dcterms:created xsi:type="dcterms:W3CDTF">2026-04-28T11:33:05Z</dcterms:created>
  <dcterms:modified xsi:type="dcterms:W3CDTF">2026-05-05T15:00:49Z</dcterms:modified>
</cp:coreProperties>
</file>